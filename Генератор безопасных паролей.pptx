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701BF4-1E64-4B24-9DE0-C7B62CE9A81F}" type="doc">
      <dgm:prSet loTypeId="urn:microsoft.com/office/officeart/2005/8/layout/hList1" loCatId="list" qsTypeId="urn:microsoft.com/office/officeart/2005/8/quickstyle/simple1#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6AE5FCC7-2047-4CA2-A36D-E0106E237EA1}">
      <dgm:prSet phldrT="[Текст]" custT="1"/>
      <dgm:spPr bwMode="auto">
        <a:solidFill>
          <a:srgbClr val="299CAB"/>
        </a:solidFill>
      </dgm:spPr>
      <dgm:t>
        <a:bodyPr/>
        <a:lstStyle/>
        <a:p>
          <a:pPr>
            <a:defRPr/>
          </a:pPr>
          <a:r>
            <a:rPr lang="ru-RU" sz="2000" b="1" dirty="0">
              <a:latin typeface="Times New Roman" panose="02020603050405020304" pitchFamily="18" charset="0"/>
            </a:rPr>
            <a:t>Цель проекта</a:t>
          </a:r>
          <a:r>
            <a:rPr lang="ru-RU" sz="2000" dirty="0">
              <a:latin typeface="Times New Roman"/>
              <a:cs typeface="Times New Roman"/>
            </a:rPr>
            <a:t> </a:t>
          </a:r>
          <a:endParaRPr sz="2000" dirty="0"/>
        </a:p>
      </dgm:t>
    </dgm:pt>
    <dgm:pt modelId="{28F0A977-EBD0-496B-AB88-F235BB0CFA93}" type="parTrans" cxnId="{553AF3C4-C828-45FD-92DC-4C709EAFF61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8C91E20-D865-4829-A607-E9530F6AA67E}" type="sibTrans" cxnId="{553AF3C4-C828-45FD-92DC-4C709EAFF61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B9A3C2B-A9B1-4184-A08A-A6BE34AF8F4D}">
      <dgm:prSet phldrT="[Текст]" custT="1"/>
      <dgm:spPr bwMode="auto">
        <a:solidFill>
          <a:schemeClr val="accent4">
            <a:lumMod val="20000"/>
            <a:lumOff val="80000"/>
          </a:schemeClr>
        </a:solidFill>
        <a:ln>
          <a:noFill/>
        </a:ln>
      </dgm:spPr>
      <dgm:t>
        <a:bodyPr/>
        <a:lstStyle/>
        <a:p>
          <a:pPr algn="ctr">
            <a:lnSpc>
              <a:spcPct val="150000"/>
            </a:lnSpc>
            <a:buNone/>
            <a:defRPr/>
          </a:pPr>
          <a:r>
            <a:rPr lang="ru-RU" sz="2000" b="1" dirty="0">
              <a:latin typeface="Times New Roman" panose="02020603050405020304" pitchFamily="18" charset="0"/>
            </a:rPr>
            <a:t>Создать простой, понятный и безопасный инструмент для управления паролями</a:t>
          </a:r>
          <a:endParaRPr sz="2000" dirty="0"/>
        </a:p>
      </dgm:t>
    </dgm:pt>
    <dgm:pt modelId="{8AD49B2B-7579-4D51-A671-563C7C1729D9}" type="parTrans" cxnId="{9AFE7B42-A22D-4733-974B-44F8A44C679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35D97FE-1115-495C-8FC9-D837AEC097B2}" type="sibTrans" cxnId="{9AFE7B42-A22D-4733-974B-44F8A44C679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A9E7B16-90BA-4373-97AF-261C75D33A01}">
      <dgm:prSet phldrT="[Текст]" custT="1"/>
      <dgm:spPr bwMode="auto"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 algn="l">
            <a:lnSpc>
              <a:spcPct val="150000"/>
            </a:lnSpc>
            <a:buNone/>
            <a:defRPr/>
          </a:pPr>
          <a:r>
            <a:rPr lang="ru-RU" sz="2000" b="1" dirty="0">
              <a:latin typeface="Times New Roman" panose="02020603050405020304" pitchFamily="18" charset="0"/>
            </a:rPr>
            <a:t>Научиться генерировать надёжные пароли по заданным критериям</a:t>
          </a:r>
          <a:endParaRPr sz="2000" dirty="0"/>
        </a:p>
      </dgm:t>
    </dgm:pt>
    <dgm:pt modelId="{2FC1B8AB-E2AC-4F07-BB9B-88ED1E226FB8}" type="parTrans" cxnId="{15330EA9-3D3B-453A-8C42-6A423B47FF8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117D5DA-30FB-4D35-9D31-762749C90CD7}" type="sibTrans" cxnId="{15330EA9-3D3B-453A-8C42-6A423B47FF8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50C336D-AECA-4427-A668-1906C1FA70FE}">
      <dgm:prSet phldrT="[Текст]" custT="1"/>
      <dgm:spPr bwMode="auto">
        <a:solidFill>
          <a:srgbClr val="299CAB"/>
        </a:solidFill>
      </dgm:spPr>
      <dgm:t>
        <a:bodyPr/>
        <a:lstStyle/>
        <a:p>
          <a:pPr>
            <a:defRPr/>
          </a:pPr>
          <a:r>
            <a:rPr lang="ru-RU" sz="2000" dirty="0"/>
            <a:t>Задачи </a:t>
          </a:r>
          <a:endParaRPr sz="2000" dirty="0"/>
        </a:p>
      </dgm:t>
    </dgm:pt>
    <dgm:pt modelId="{70DE37F1-8293-4749-B7CB-6BE682D49F8F}" type="sibTrans" cxnId="{F29A4A47-AD7C-46A4-8D56-7BB2DC08989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916A3B6-B14C-4395-A157-8621F0FCD09D}" type="parTrans" cxnId="{F29A4A47-AD7C-46A4-8D56-7BB2DC08989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D1709C7-00FF-4041-A7B0-47D1ECD5680C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 algn="l">
            <a:lnSpc>
              <a:spcPct val="150000"/>
            </a:lnSpc>
            <a:buNone/>
            <a:defRPr/>
          </a:pPr>
          <a:r>
            <a:rPr lang="ru-RU" sz="2000" b="1" dirty="0">
              <a:latin typeface="Times New Roman" panose="02020603050405020304" pitchFamily="18" charset="0"/>
            </a:rPr>
            <a:t>Реализовать проверку стойкости существующих паролей</a:t>
          </a:r>
        </a:p>
      </dgm:t>
    </dgm:pt>
    <dgm:pt modelId="{F757FDB6-F3A8-4F37-A012-601AE7D8AA44}" type="parTrans" cxnId="{1A53B937-73D5-4B0F-8BCC-B764C26E575A}">
      <dgm:prSet/>
      <dgm:spPr/>
      <dgm:t>
        <a:bodyPr/>
        <a:lstStyle/>
        <a:p>
          <a:endParaRPr lang="ru-RU"/>
        </a:p>
      </dgm:t>
    </dgm:pt>
    <dgm:pt modelId="{43431E8D-B49A-4387-87A8-2C4DE12D2014}" type="sibTrans" cxnId="{1A53B937-73D5-4B0F-8BCC-B764C26E575A}">
      <dgm:prSet/>
      <dgm:spPr/>
      <dgm:t>
        <a:bodyPr/>
        <a:lstStyle/>
        <a:p>
          <a:endParaRPr lang="ru-RU"/>
        </a:p>
      </dgm:t>
    </dgm:pt>
    <dgm:pt modelId="{0ECDF19E-6CDA-4E5C-9C32-09F0917A8CC3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 algn="l">
            <a:lnSpc>
              <a:spcPct val="150000"/>
            </a:lnSpc>
            <a:buNone/>
            <a:defRPr/>
          </a:pPr>
          <a:r>
            <a:rPr lang="ru-RU" sz="2000" b="1" dirty="0">
              <a:latin typeface="Times New Roman" panose="02020603050405020304" pitchFamily="18" charset="0"/>
            </a:rPr>
            <a:t>Научиться безопасно хранить пароли с использованием шифрования</a:t>
          </a:r>
        </a:p>
      </dgm:t>
    </dgm:pt>
    <dgm:pt modelId="{2EAC3616-5B99-4A2F-BC20-B4E49972F1C0}" type="parTrans" cxnId="{143C5C89-14AC-4D23-909F-43311B826154}">
      <dgm:prSet/>
      <dgm:spPr/>
      <dgm:t>
        <a:bodyPr/>
        <a:lstStyle/>
        <a:p>
          <a:endParaRPr lang="ru-RU"/>
        </a:p>
      </dgm:t>
    </dgm:pt>
    <dgm:pt modelId="{46EBCACF-C0D6-405F-B41F-346D1F0FCE20}" type="sibTrans" cxnId="{143C5C89-14AC-4D23-909F-43311B826154}">
      <dgm:prSet/>
      <dgm:spPr/>
      <dgm:t>
        <a:bodyPr/>
        <a:lstStyle/>
        <a:p>
          <a:endParaRPr lang="ru-RU"/>
        </a:p>
      </dgm:t>
    </dgm:pt>
    <dgm:pt modelId="{AC110F33-929E-4770-80B7-8418E05DAF6D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 algn="l">
            <a:lnSpc>
              <a:spcPct val="150000"/>
            </a:lnSpc>
            <a:buNone/>
            <a:defRPr/>
          </a:pPr>
          <a:r>
            <a:rPr lang="ru-RU" sz="2000" b="1" dirty="0">
              <a:latin typeface="Times New Roman" panose="02020603050405020304" pitchFamily="18" charset="0"/>
            </a:rPr>
            <a:t>Создать удобный текстовый интерфейс (CLI) без сложных терминов</a:t>
          </a:r>
        </a:p>
      </dgm:t>
    </dgm:pt>
    <dgm:pt modelId="{0CBD234D-84FC-46CB-92B9-6F2063E35CF9}" type="parTrans" cxnId="{CB8CD8C4-8870-4CC3-B267-9B193094D6B6}">
      <dgm:prSet/>
      <dgm:spPr/>
      <dgm:t>
        <a:bodyPr/>
        <a:lstStyle/>
        <a:p>
          <a:endParaRPr lang="ru-RU"/>
        </a:p>
      </dgm:t>
    </dgm:pt>
    <dgm:pt modelId="{D3FEFA40-5BBE-4797-9CB8-85884509186C}" type="sibTrans" cxnId="{CB8CD8C4-8870-4CC3-B267-9B193094D6B6}">
      <dgm:prSet/>
      <dgm:spPr/>
      <dgm:t>
        <a:bodyPr/>
        <a:lstStyle/>
        <a:p>
          <a:endParaRPr lang="ru-RU"/>
        </a:p>
      </dgm:t>
    </dgm:pt>
    <dgm:pt modelId="{81C0CDA4-6C95-4D20-9138-4ACCBCDD7ECD}" type="pres">
      <dgm:prSet presAssocID="{52701BF4-1E64-4B24-9DE0-C7B62CE9A81F}" presName="Name0" presStyleCnt="0">
        <dgm:presLayoutVars>
          <dgm:dir/>
          <dgm:animLvl val="lvl"/>
          <dgm:resizeHandles val="exact"/>
        </dgm:presLayoutVars>
      </dgm:prSet>
      <dgm:spPr bwMode="auto"/>
    </dgm:pt>
    <dgm:pt modelId="{70FFF034-B0EA-4095-ADF9-DF045137C541}" type="pres">
      <dgm:prSet presAssocID="{6AE5FCC7-2047-4CA2-A36D-E0106E237EA1}" presName="composite" presStyleCnt="0"/>
      <dgm:spPr bwMode="auto"/>
    </dgm:pt>
    <dgm:pt modelId="{475377ED-F57B-4073-8360-600B3C5811B9}" type="pres">
      <dgm:prSet presAssocID="{6AE5FCC7-2047-4CA2-A36D-E0106E237EA1}" presName="parTx" presStyleLbl="alignNode1" presStyleIdx="0" presStyleCnt="2" custLinFactNeighborX="-105" custLinFactNeighborY="64">
        <dgm:presLayoutVars>
          <dgm:chMax val="0"/>
          <dgm:chPref val="0"/>
          <dgm:bulletEnabled val="1"/>
        </dgm:presLayoutVars>
      </dgm:prSet>
      <dgm:spPr bwMode="auto"/>
    </dgm:pt>
    <dgm:pt modelId="{0F13BDA8-3454-453D-A96F-706DAF02D6EE}" type="pres">
      <dgm:prSet presAssocID="{6AE5FCC7-2047-4CA2-A36D-E0106E237EA1}" presName="desTx" presStyleLbl="alignAccFollowNode1" presStyleIdx="0" presStyleCnt="2">
        <dgm:presLayoutVars>
          <dgm:bulletEnabled val="1"/>
        </dgm:presLayoutVars>
      </dgm:prSet>
      <dgm:spPr bwMode="auto"/>
    </dgm:pt>
    <dgm:pt modelId="{8A55D640-D14B-43CB-941B-4388B7B0395A}" type="pres">
      <dgm:prSet presAssocID="{08C91E20-D865-4829-A607-E9530F6AA67E}" presName="space" presStyleCnt="0"/>
      <dgm:spPr bwMode="auto"/>
    </dgm:pt>
    <dgm:pt modelId="{3F3CF8F6-92CB-4295-83E3-895D6A7FB8AC}" type="pres">
      <dgm:prSet presAssocID="{350C336D-AECA-4427-A668-1906C1FA70FE}" presName="composite" presStyleCnt="0"/>
      <dgm:spPr bwMode="auto"/>
    </dgm:pt>
    <dgm:pt modelId="{6AA4CB19-13C9-4444-A034-C5720DC62D84}" type="pres">
      <dgm:prSet presAssocID="{350C336D-AECA-4427-A668-1906C1FA70FE}" presName="parTx" presStyleLbl="alignNode1" presStyleIdx="1" presStyleCnt="2">
        <dgm:presLayoutVars>
          <dgm:chMax val="0"/>
          <dgm:chPref val="0"/>
          <dgm:bulletEnabled val="1"/>
        </dgm:presLayoutVars>
      </dgm:prSet>
      <dgm:spPr bwMode="auto"/>
    </dgm:pt>
    <dgm:pt modelId="{CC4D2154-BE11-4154-BE61-002A798881A8}" type="pres">
      <dgm:prSet presAssocID="{350C336D-AECA-4427-A668-1906C1FA70FE}" presName="desTx" presStyleLbl="alignAccFollowNode1" presStyleIdx="1" presStyleCnt="2">
        <dgm:presLayoutVars>
          <dgm:bulletEnabled val="1"/>
        </dgm:presLayoutVars>
      </dgm:prSet>
      <dgm:spPr bwMode="auto"/>
    </dgm:pt>
  </dgm:ptLst>
  <dgm:cxnLst>
    <dgm:cxn modelId="{6EEDD000-F3FA-4BD0-BC8A-5387838091DF}" type="presOf" srcId="{CD1709C7-00FF-4041-A7B0-47D1ECD5680C}" destId="{CC4D2154-BE11-4154-BE61-002A798881A8}" srcOrd="0" destOrd="1" presId="urn:microsoft.com/office/officeart/2005/8/layout/hList1"/>
    <dgm:cxn modelId="{48A42B0B-DAAB-4935-879E-F7E45A7D62FA}" type="presOf" srcId="{4A9E7B16-90BA-4373-97AF-261C75D33A01}" destId="{CC4D2154-BE11-4154-BE61-002A798881A8}" srcOrd="0" destOrd="0" presId="urn:microsoft.com/office/officeart/2005/8/layout/hList1"/>
    <dgm:cxn modelId="{A1823A23-6DBD-495C-AA30-107F95954665}" type="presOf" srcId="{0ECDF19E-6CDA-4E5C-9C32-09F0917A8CC3}" destId="{CC4D2154-BE11-4154-BE61-002A798881A8}" srcOrd="0" destOrd="2" presId="urn:microsoft.com/office/officeart/2005/8/layout/hList1"/>
    <dgm:cxn modelId="{A021C32F-889C-447E-87B6-255614005BE6}" type="presOf" srcId="{AC110F33-929E-4770-80B7-8418E05DAF6D}" destId="{CC4D2154-BE11-4154-BE61-002A798881A8}" srcOrd="0" destOrd="3" presId="urn:microsoft.com/office/officeart/2005/8/layout/hList1"/>
    <dgm:cxn modelId="{1A53B937-73D5-4B0F-8BCC-B764C26E575A}" srcId="{350C336D-AECA-4427-A668-1906C1FA70FE}" destId="{CD1709C7-00FF-4041-A7B0-47D1ECD5680C}" srcOrd="1" destOrd="0" parTransId="{F757FDB6-F3A8-4F37-A012-601AE7D8AA44}" sibTransId="{43431E8D-B49A-4387-87A8-2C4DE12D2014}"/>
    <dgm:cxn modelId="{9AFE7B42-A22D-4733-974B-44F8A44C679F}" srcId="{6AE5FCC7-2047-4CA2-A36D-E0106E237EA1}" destId="{9B9A3C2B-A9B1-4184-A08A-A6BE34AF8F4D}" srcOrd="0" destOrd="0" parTransId="{8AD49B2B-7579-4D51-A671-563C7C1729D9}" sibTransId="{F35D97FE-1115-495C-8FC9-D837AEC097B2}"/>
    <dgm:cxn modelId="{F29A4A47-AD7C-46A4-8D56-7BB2DC089895}" srcId="{52701BF4-1E64-4B24-9DE0-C7B62CE9A81F}" destId="{350C336D-AECA-4427-A668-1906C1FA70FE}" srcOrd="1" destOrd="0" parTransId="{B916A3B6-B14C-4395-A157-8621F0FCD09D}" sibTransId="{70DE37F1-8293-4749-B7CB-6BE682D49F8F}"/>
    <dgm:cxn modelId="{2E52E869-B360-4F95-8629-FDBA0A5440C1}" type="presOf" srcId="{9B9A3C2B-A9B1-4184-A08A-A6BE34AF8F4D}" destId="{0F13BDA8-3454-453D-A96F-706DAF02D6EE}" srcOrd="0" destOrd="0" presId="urn:microsoft.com/office/officeart/2005/8/layout/hList1"/>
    <dgm:cxn modelId="{F3CBB97C-8DC7-4378-B8BD-9F7C84664F31}" type="presOf" srcId="{6AE5FCC7-2047-4CA2-A36D-E0106E237EA1}" destId="{475377ED-F57B-4073-8360-600B3C5811B9}" srcOrd="0" destOrd="0" presId="urn:microsoft.com/office/officeart/2005/8/layout/hList1"/>
    <dgm:cxn modelId="{143C5C89-14AC-4D23-909F-43311B826154}" srcId="{350C336D-AECA-4427-A668-1906C1FA70FE}" destId="{0ECDF19E-6CDA-4E5C-9C32-09F0917A8CC3}" srcOrd="2" destOrd="0" parTransId="{2EAC3616-5B99-4A2F-BC20-B4E49972F1C0}" sibTransId="{46EBCACF-C0D6-405F-B41F-346D1F0FCE20}"/>
    <dgm:cxn modelId="{08020DA7-373C-4809-B09D-344CC7381853}" type="presOf" srcId="{350C336D-AECA-4427-A668-1906C1FA70FE}" destId="{6AA4CB19-13C9-4444-A034-C5720DC62D84}" srcOrd="0" destOrd="0" presId="urn:microsoft.com/office/officeart/2005/8/layout/hList1"/>
    <dgm:cxn modelId="{15330EA9-3D3B-453A-8C42-6A423B47FF87}" srcId="{350C336D-AECA-4427-A668-1906C1FA70FE}" destId="{4A9E7B16-90BA-4373-97AF-261C75D33A01}" srcOrd="0" destOrd="0" parTransId="{2FC1B8AB-E2AC-4F07-BB9B-88ED1E226FB8}" sibTransId="{C117D5DA-30FB-4D35-9D31-762749C90CD7}"/>
    <dgm:cxn modelId="{CB8CD8C4-8870-4CC3-B267-9B193094D6B6}" srcId="{350C336D-AECA-4427-A668-1906C1FA70FE}" destId="{AC110F33-929E-4770-80B7-8418E05DAF6D}" srcOrd="3" destOrd="0" parTransId="{0CBD234D-84FC-46CB-92B9-6F2063E35CF9}" sibTransId="{D3FEFA40-5BBE-4797-9CB8-85884509186C}"/>
    <dgm:cxn modelId="{553AF3C4-C828-45FD-92DC-4C709EAFF61B}" srcId="{52701BF4-1E64-4B24-9DE0-C7B62CE9A81F}" destId="{6AE5FCC7-2047-4CA2-A36D-E0106E237EA1}" srcOrd="0" destOrd="0" parTransId="{28F0A977-EBD0-496B-AB88-F235BB0CFA93}" sibTransId="{08C91E20-D865-4829-A607-E9530F6AA67E}"/>
    <dgm:cxn modelId="{879A21C9-7EAD-4C7F-B6ED-33DC7F62567F}" type="presOf" srcId="{52701BF4-1E64-4B24-9DE0-C7B62CE9A81F}" destId="{81C0CDA4-6C95-4D20-9138-4ACCBCDD7ECD}" srcOrd="0" destOrd="0" presId="urn:microsoft.com/office/officeart/2005/8/layout/hList1"/>
    <dgm:cxn modelId="{A3A05E80-29E2-42F4-8018-74AAFEB401D5}" type="presParOf" srcId="{81C0CDA4-6C95-4D20-9138-4ACCBCDD7ECD}" destId="{70FFF034-B0EA-4095-ADF9-DF045137C541}" srcOrd="0" destOrd="0" presId="urn:microsoft.com/office/officeart/2005/8/layout/hList1"/>
    <dgm:cxn modelId="{1A722DD3-001B-4E90-8389-7AAAC8DF09B3}" type="presParOf" srcId="{70FFF034-B0EA-4095-ADF9-DF045137C541}" destId="{475377ED-F57B-4073-8360-600B3C5811B9}" srcOrd="0" destOrd="0" presId="urn:microsoft.com/office/officeart/2005/8/layout/hList1"/>
    <dgm:cxn modelId="{9B47BCBA-9E0D-4314-91FF-1440CFD88C36}" type="presParOf" srcId="{70FFF034-B0EA-4095-ADF9-DF045137C541}" destId="{0F13BDA8-3454-453D-A96F-706DAF02D6EE}" srcOrd="1" destOrd="0" presId="urn:microsoft.com/office/officeart/2005/8/layout/hList1"/>
    <dgm:cxn modelId="{8AD148AA-C6B1-4636-989B-400A6A1CBEAD}" type="presParOf" srcId="{81C0CDA4-6C95-4D20-9138-4ACCBCDD7ECD}" destId="{8A55D640-D14B-43CB-941B-4388B7B0395A}" srcOrd="1" destOrd="0" presId="urn:microsoft.com/office/officeart/2005/8/layout/hList1"/>
    <dgm:cxn modelId="{E616E251-A462-415E-BF48-9847C232199B}" type="presParOf" srcId="{81C0CDA4-6C95-4D20-9138-4ACCBCDD7ECD}" destId="{3F3CF8F6-92CB-4295-83E3-895D6A7FB8AC}" srcOrd="2" destOrd="0" presId="urn:microsoft.com/office/officeart/2005/8/layout/hList1"/>
    <dgm:cxn modelId="{4C86C175-A2D1-40B0-818C-045E58C01EE9}" type="presParOf" srcId="{3F3CF8F6-92CB-4295-83E3-895D6A7FB8AC}" destId="{6AA4CB19-13C9-4444-A034-C5720DC62D84}" srcOrd="0" destOrd="0" presId="urn:microsoft.com/office/officeart/2005/8/layout/hList1"/>
    <dgm:cxn modelId="{0EEB96AE-9708-4AB4-AFBD-2C03F26A0213}" type="presParOf" srcId="{3F3CF8F6-92CB-4295-83E3-895D6A7FB8AC}" destId="{CC4D2154-BE11-4154-BE61-002A798881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377ED-F57B-4073-8360-600B3C5811B9}">
      <dsp:nvSpPr>
        <dsp:cNvPr id="0" name=""/>
        <dsp:cNvSpPr/>
      </dsp:nvSpPr>
      <dsp:spPr bwMode="auto">
        <a:xfrm>
          <a:off x="0" y="19456"/>
          <a:ext cx="4868399" cy="835200"/>
        </a:xfrm>
        <a:prstGeom prst="rect">
          <a:avLst/>
        </a:prstGeom>
        <a:solidFill>
          <a:srgbClr val="299CAB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000" b="1" kern="1200" dirty="0">
              <a:latin typeface="Times New Roman" panose="02020603050405020304" pitchFamily="18" charset="0"/>
            </a:rPr>
            <a:t>Цель проекта</a:t>
          </a:r>
          <a:r>
            <a:rPr lang="ru-RU" sz="2000" kern="1200" dirty="0">
              <a:latin typeface="Times New Roman"/>
              <a:cs typeface="Times New Roman"/>
            </a:rPr>
            <a:t> </a:t>
          </a:r>
          <a:endParaRPr sz="2000" kern="1200" dirty="0"/>
        </a:p>
      </dsp:txBody>
      <dsp:txXfrm>
        <a:off x="0" y="19456"/>
        <a:ext cx="4868399" cy="835200"/>
      </dsp:txXfrm>
    </dsp:sp>
    <dsp:sp modelId="{0F13BDA8-3454-453D-A96F-706DAF02D6EE}">
      <dsp:nvSpPr>
        <dsp:cNvPr id="0" name=""/>
        <dsp:cNvSpPr/>
      </dsp:nvSpPr>
      <dsp:spPr bwMode="auto">
        <a:xfrm>
          <a:off x="50" y="854121"/>
          <a:ext cx="4868399" cy="3880743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  <a:defRPr/>
          </a:pPr>
          <a:r>
            <a:rPr lang="ru-RU" sz="2000" b="1" kern="1200" dirty="0">
              <a:latin typeface="Times New Roman" panose="02020603050405020304" pitchFamily="18" charset="0"/>
            </a:rPr>
            <a:t>Создать простой, понятный и безопасный инструмент для управления паролями</a:t>
          </a:r>
          <a:endParaRPr sz="2000" kern="1200" dirty="0"/>
        </a:p>
      </dsp:txBody>
      <dsp:txXfrm>
        <a:off x="50" y="854121"/>
        <a:ext cx="4868399" cy="3880743"/>
      </dsp:txXfrm>
    </dsp:sp>
    <dsp:sp modelId="{6AA4CB19-13C9-4444-A034-C5720DC62D84}">
      <dsp:nvSpPr>
        <dsp:cNvPr id="0" name=""/>
        <dsp:cNvSpPr/>
      </dsp:nvSpPr>
      <dsp:spPr bwMode="auto">
        <a:xfrm>
          <a:off x="5550025" y="18921"/>
          <a:ext cx="4868399" cy="835200"/>
        </a:xfrm>
        <a:prstGeom prst="rect">
          <a:avLst/>
        </a:prstGeom>
        <a:solidFill>
          <a:srgbClr val="299CAB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000" kern="1200" dirty="0"/>
            <a:t>Задачи </a:t>
          </a:r>
          <a:endParaRPr sz="2000" kern="1200" dirty="0"/>
        </a:p>
      </dsp:txBody>
      <dsp:txXfrm>
        <a:off x="5550025" y="18921"/>
        <a:ext cx="4868399" cy="835200"/>
      </dsp:txXfrm>
    </dsp:sp>
    <dsp:sp modelId="{CC4D2154-BE11-4154-BE61-002A798881A8}">
      <dsp:nvSpPr>
        <dsp:cNvPr id="0" name=""/>
        <dsp:cNvSpPr/>
      </dsp:nvSpPr>
      <dsp:spPr bwMode="auto">
        <a:xfrm>
          <a:off x="5550025" y="854121"/>
          <a:ext cx="4868399" cy="3880743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  <a:defRPr/>
          </a:pPr>
          <a:r>
            <a:rPr lang="ru-RU" sz="2000" b="1" kern="1200" dirty="0">
              <a:latin typeface="Times New Roman" panose="02020603050405020304" pitchFamily="18" charset="0"/>
            </a:rPr>
            <a:t>Научиться генерировать надёжные пароли по заданным критериям</a:t>
          </a:r>
          <a:endParaRPr sz="2000" kern="1200" dirty="0"/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  <a:defRPr/>
          </a:pPr>
          <a:r>
            <a:rPr lang="ru-RU" sz="2000" b="1" kern="1200" dirty="0">
              <a:latin typeface="Times New Roman" panose="02020603050405020304" pitchFamily="18" charset="0"/>
            </a:rPr>
            <a:t>Реализовать проверку стойкости существующих паролей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  <a:defRPr/>
          </a:pPr>
          <a:r>
            <a:rPr lang="ru-RU" sz="2000" b="1" kern="1200" dirty="0">
              <a:latin typeface="Times New Roman" panose="02020603050405020304" pitchFamily="18" charset="0"/>
            </a:rPr>
            <a:t>Научиться безопасно хранить пароли с использованием шифрования</a:t>
          </a:r>
        </a:p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  <a:defRPr/>
          </a:pPr>
          <a:r>
            <a:rPr lang="ru-RU" sz="2000" b="1" kern="1200" dirty="0">
              <a:latin typeface="Times New Roman" panose="02020603050405020304" pitchFamily="18" charset="0"/>
            </a:rPr>
            <a:t>Создать удобный текстовый интерфейс (CLI) без сложных терминов</a:t>
          </a:r>
        </a:p>
      </dsp:txBody>
      <dsp:txXfrm>
        <a:off x="5550025" y="854121"/>
        <a:ext cx="4868399" cy="38807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11AEA-440E-B600-EA6E-4F3C565C4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CD8DF7-B242-9D5B-DD96-60E419FB6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D7186D-4495-825C-2273-ED6C4A28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4EC7B3-9E45-E986-8366-6ED34E27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5E407-C62B-EC59-3D41-4FE5CD01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15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F0022-E7F0-BFEB-68DF-0217FD93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361BF2-C7AE-5389-1486-3E20ADDDB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1657A5-75EF-1C02-5E42-61AD2AFA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52128B-7698-259C-5D2B-6303DCEB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F13E14-B2CB-79A0-8920-C932B1D2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01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3793B-31ED-3298-FD18-36DDE4DE6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18B7CE-801F-7752-3794-866540FC8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8DBA01-5E72-DADD-EEE5-47602F53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973006-8842-342E-8548-690E568B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8D4834-79B5-57B3-7182-867DC5C6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87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D4603-D9CA-BA9D-EEE4-3754141E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C9F909-7DF1-8A40-FDAC-64E3811BE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36F6AD-F6D9-D8D2-CB47-232958DA2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03A9F0-953C-3360-84B3-EF04CDFB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3F01B4-2494-3FCB-CCDB-B8CC51DA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28417B-E36E-7048-B0E8-EF93987B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56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E1702-A86D-D691-B74E-73715439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B1FDF1-5F77-B8D6-9A75-3CEDAE718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37DB14-939A-B87F-13A9-2EEEC9519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A06CE5-5405-E258-A883-08F1CE7D3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8AAAB1-A918-E25C-81B9-93E84A661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FBFD40-8A22-AE99-83B0-B19ECC6E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92E616-1973-FA69-BBFB-29BEA02F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574D68-1DFD-91BF-F230-93AC10C7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57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431B9-E395-093F-7890-29BCB773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04238C-959D-8885-FEA4-441D4013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A32044-5512-6368-0F2F-1FC32F8A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A20F72-E59C-AA46-531B-4EDE2427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06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F6E0F4-3B0D-4D9A-E75F-B1A8B8B5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46687C-A7BF-18B7-E450-1DBCE14D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C1A64F-4B9D-568E-3269-1E4154C9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37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8BAB7-E0A8-52F2-0651-8D39AC60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C5EA0D-8AD0-A342-3EAF-70E7609B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DA3CFE-7836-0C7C-F196-010523F3B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4CE059-E203-FC55-F5F3-A6915300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659E3-B388-37EA-4175-DACEBEB6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7E2E3F-BC3E-6140-2A53-164446CC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77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4DE9C-2D92-1C96-C037-B2341459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A1E8D8-7897-3AFE-BB1B-173BE48B9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91CF24-BA45-B324-EC75-716294E34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816123-29C6-7903-A9F8-E2839D4A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6E6F5A-8068-050F-FD10-33AFFB53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BAC54-A2CD-B3D2-F7C3-D1984B43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03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298E61-4FA1-1CEF-CCE6-ACCD0456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CEE90E-9A6F-502B-A768-A3D887135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5B124F-0400-965B-DADA-CF1618C7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17A2E7-1388-A9E7-B20B-ABB843E3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5A1D7-CE33-3CCE-F7A4-40C3F74D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86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A0846E-654C-225E-55C1-FEF90BDA2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30B564-3198-7A16-C104-518C1562D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28AE9-B970-1D48-D3D2-65BF7374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EBE3E-86C3-B2FD-D274-3111D0F8E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B0A3D7-2E59-D1C6-0013-685EF7C7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90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201F3-6B1E-EEED-E6A0-7E3A3ED5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233E36-C1BA-242A-B730-969CD55A8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EA7291-7DA3-5E57-A39C-0BF5257CD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7C19A-7AE9-4B7C-A4A1-8D150BADB9E6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841739-38E2-124C-B78D-0446C9DBC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1D7756-07F3-BECD-BEA9-C7B4D8748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48264-A808-4865-997E-98FD8AFB06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1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F88AE-ABC1-C2FA-D38D-04B42A950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3445098" y="760398"/>
            <a:ext cx="2117501" cy="30526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4AD176-FA65-5805-6949-E70FC85D4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5199"/>
            <a:ext cx="9144000" cy="1655762"/>
          </a:xfrm>
        </p:spPr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E81D0E-0A23-E1F5-BB21-26B71B91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839"/>
          </a:xfrm>
          <a:prstGeom prst="rect">
            <a:avLst/>
          </a:prstGeom>
        </p:spPr>
      </p:pic>
      <p:sp>
        <p:nvSpPr>
          <p:cNvPr id="7" name="AutoShape 4" descr="Picture background">
            <a:extLst>
              <a:ext uri="{FF2B5EF4-FFF2-40B4-BE49-F238E27FC236}">
                <a16:creationId xmlns:a16="http://schemas.microsoft.com/office/drawing/2014/main" id="{C340AA68-A37A-371D-7899-340AC809A3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976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8B2064B-4EE2-4D4F-FD1A-EAED2EDA8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5" y="104762"/>
            <a:ext cx="19812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2E6930-6099-3131-3704-83E1C34F540F}"/>
              </a:ext>
            </a:extLst>
          </p:cNvPr>
          <p:cNvSpPr txBox="1"/>
          <p:nvPr/>
        </p:nvSpPr>
        <p:spPr>
          <a:xfrm>
            <a:off x="1822449" y="312867"/>
            <a:ext cx="10311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</a:rPr>
              <a:t>Бюджетное учреждение профессионального образования Ханты-Мансийского</a:t>
            </a:r>
            <a:endParaRPr lang="ru-RU" dirty="0">
              <a:effectLst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</a:rPr>
              <a:t>Образец автономного округа-Югры «Нижневартовский социально-гуманитарный колледж»</a:t>
            </a:r>
            <a:endParaRPr lang="ru-RU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849EC-0C54-F5EC-2D78-ED2F4B61C0EE}"/>
              </a:ext>
            </a:extLst>
          </p:cNvPr>
          <p:cNvSpPr txBox="1"/>
          <p:nvPr/>
        </p:nvSpPr>
        <p:spPr>
          <a:xfrm>
            <a:off x="3121025" y="2690334"/>
            <a:ext cx="614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</a:rPr>
              <a:t>Генератор безопасных паролей</a:t>
            </a:r>
            <a:endParaRPr lang="ru-RU" sz="280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A7176-434A-1442-BD39-C10B2380E4C9}"/>
              </a:ext>
            </a:extLst>
          </p:cNvPr>
          <p:cNvSpPr txBox="1"/>
          <p:nvPr/>
        </p:nvSpPr>
        <p:spPr>
          <a:xfrm>
            <a:off x="7188200" y="56876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</a:rPr>
              <a:t>Выполнил: Свайкин Александр Викторович</a:t>
            </a:r>
          </a:p>
          <a:p>
            <a:r>
              <a:rPr lang="ru-RU" b="1" dirty="0">
                <a:latin typeface="Times New Roman" panose="02020603050405020304" pitchFamily="18" charset="0"/>
              </a:rPr>
              <a:t>Обучающийся 323 СА/1 группы</a:t>
            </a:r>
          </a:p>
          <a:p>
            <a:r>
              <a:rPr lang="ru-RU" b="1" dirty="0">
                <a:latin typeface="Times New Roman" panose="02020603050405020304" pitchFamily="18" charset="0"/>
              </a:rPr>
              <a:t>Руководитель: Яковенко Евгений Романович</a:t>
            </a:r>
          </a:p>
          <a:p>
            <a:r>
              <a:rPr lang="ru-RU" dirty="0">
                <a:effectLst/>
              </a:rPr>
              <a:t>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35C59-66BA-1A6D-D370-D91A974CEDDD}"/>
              </a:ext>
            </a:extLst>
          </p:cNvPr>
          <p:cNvSpPr txBox="1"/>
          <p:nvPr/>
        </p:nvSpPr>
        <p:spPr>
          <a:xfrm>
            <a:off x="4273550" y="6045896"/>
            <a:ext cx="664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</a:rPr>
              <a:t>Нижневартовск, 2025</a:t>
            </a:r>
          </a:p>
        </p:txBody>
      </p:sp>
    </p:spTree>
    <p:extLst>
      <p:ext uri="{BB962C8B-B14F-4D97-AF65-F5344CB8AC3E}">
        <p14:creationId xmlns:p14="http://schemas.microsoft.com/office/powerpoint/2010/main" val="71245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09BBE-DA01-2107-7A6D-E63E9EF0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109C1-E499-423D-9069-4AAC0DE63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0B61DE-86D7-8043-56B8-A038395DD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00345"/>
            <a:ext cx="12192000" cy="68548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63FBD6-092E-5FAB-DCB8-5DD0C18E176F}"/>
              </a:ext>
            </a:extLst>
          </p:cNvPr>
          <p:cNvSpPr txBox="1"/>
          <p:nvPr/>
        </p:nvSpPr>
        <p:spPr>
          <a:xfrm>
            <a:off x="3967163" y="157817"/>
            <a:ext cx="6245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Цели и задачи</a:t>
            </a:r>
          </a:p>
        </p:txBody>
      </p:sp>
      <p:graphicFrame>
        <p:nvGraphicFramePr>
          <p:cNvPr id="15" name="Схема 14">
            <a:extLst>
              <a:ext uri="{FF2B5EF4-FFF2-40B4-BE49-F238E27FC236}">
                <a16:creationId xmlns:a16="http://schemas.microsoft.com/office/drawing/2014/main" id="{B3ACC2F8-CAF3-F1DC-22B1-C07B4292B2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348226"/>
              </p:ext>
            </p:extLst>
          </p:nvPr>
        </p:nvGraphicFramePr>
        <p:xfrm>
          <a:off x="551149" y="1671234"/>
          <a:ext cx="10418476" cy="475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90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4788-13BA-32BC-0850-DE8AB8FC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AF217-0C2C-A336-1E15-C131FBFF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7FBB98-096E-D490-2E27-7734B9186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12192000" cy="68548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F0B9A7-FD7F-BCD4-2F10-6F43FB14401D}"/>
              </a:ext>
            </a:extLst>
          </p:cNvPr>
          <p:cNvSpPr txBox="1"/>
          <p:nvPr/>
        </p:nvSpPr>
        <p:spPr>
          <a:xfrm>
            <a:off x="4302125" y="157817"/>
            <a:ext cx="614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Проблематика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510753-2A04-A862-4A14-9BE746C1C0DE}"/>
              </a:ext>
            </a:extLst>
          </p:cNvPr>
          <p:cNvSpPr txBox="1"/>
          <p:nvPr/>
        </p:nvSpPr>
        <p:spPr>
          <a:xfrm>
            <a:off x="784225" y="1223913"/>
            <a:ext cx="63722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</a:rPr>
              <a:t>С какими проблемами сталкиваются пользователи?</a:t>
            </a:r>
          </a:p>
          <a:p>
            <a:r>
              <a:rPr lang="ru-RU" sz="2400" b="1" dirty="0">
                <a:latin typeface="Times New Roman" panose="02020603050405020304" pitchFamily="18" charset="0"/>
              </a:rPr>
              <a:t>Используют один и тот же простой пароль на всех сайтах → риск взлома всех аккаунтов</a:t>
            </a:r>
          </a:p>
          <a:p>
            <a:r>
              <a:rPr lang="ru-RU" sz="2400" b="1" dirty="0">
                <a:latin typeface="Times New Roman" panose="02020603050405020304" pitchFamily="18" charset="0"/>
              </a:rPr>
              <a:t>Забывают сложные пароли → теряют доступ к аккаунтам</a:t>
            </a:r>
          </a:p>
          <a:p>
            <a:r>
              <a:rPr lang="ru-RU" sz="2400" b="1" dirty="0">
                <a:latin typeface="Times New Roman" panose="02020603050405020304" pitchFamily="18" charset="0"/>
              </a:rPr>
              <a:t>Хранят пароли в заметках, текстовых файлах или на бумаге → небезопасно и неудобно</a:t>
            </a:r>
          </a:p>
          <a:p>
            <a:r>
              <a:rPr lang="ru-RU" sz="2400" b="1" dirty="0">
                <a:latin typeface="Times New Roman" panose="02020603050405020304" pitchFamily="18" charset="0"/>
              </a:rPr>
              <a:t>Готовые менеджеры паролей сложны для понимания новичками → трудно начать пользоваться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374D9057-B3C0-8EF4-22E9-6AE8C865E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00" y="1690688"/>
            <a:ext cx="4438650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97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D6D7C-71C0-4682-4416-E57502C37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737C66-7861-03FC-ACF9-8288F8B10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7E929E-57E0-7B70-912E-D93305F4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4F38A5-3C2A-0ACA-443D-36AFEC39B281}"/>
              </a:ext>
            </a:extLst>
          </p:cNvPr>
          <p:cNvSpPr txBox="1"/>
          <p:nvPr/>
        </p:nvSpPr>
        <p:spPr>
          <a:xfrm>
            <a:off x="3025775" y="542409"/>
            <a:ext cx="614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Преимущества нашего решения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4F991-86DE-8436-2FCB-88ACC0E5F996}"/>
              </a:ext>
            </a:extLst>
          </p:cNvPr>
          <p:cNvSpPr txBox="1"/>
          <p:nvPr/>
        </p:nvSpPr>
        <p:spPr>
          <a:xfrm>
            <a:off x="530224" y="2116515"/>
            <a:ext cx="10448925" cy="2806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</a:rPr>
              <a:t>✅ Понятный интерфейс — меню на русском, без технических терминов</a:t>
            </a:r>
            <a:br>
              <a:rPr lang="ru-RU" sz="2000" b="1" dirty="0">
                <a:latin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</a:rPr>
              <a:t>✅ Безопасное хранение — все пароли шифруются (AES-128)</a:t>
            </a:r>
            <a:br>
              <a:rPr lang="ru-RU" sz="2000" b="1" dirty="0">
                <a:latin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</a:rPr>
              <a:t>✅ Гибкая генерация — можно выбрать длину, символы, исключить похожие буквы</a:t>
            </a:r>
            <a:br>
              <a:rPr lang="ru-RU" sz="2000" b="1" dirty="0">
                <a:latin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</a:rPr>
              <a:t>✅ Проверка надёжности — сразу видно, насколько пароль защищён</a:t>
            </a:r>
            <a:br>
              <a:rPr lang="ru-RU" sz="2000" b="1" dirty="0">
                <a:latin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</a:rPr>
              <a:t>✅ Работает без интернета — все данные хранятся только на вашем компьютере</a:t>
            </a:r>
            <a:br>
              <a:rPr lang="ru-RU" sz="2000" b="1" dirty="0">
                <a:latin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</a:rPr>
              <a:t>✅ Открытый код — можно изучить, как всё устроено</a:t>
            </a:r>
          </a:p>
        </p:txBody>
      </p:sp>
    </p:spTree>
    <p:extLst>
      <p:ext uri="{BB962C8B-B14F-4D97-AF65-F5344CB8AC3E}">
        <p14:creationId xmlns:p14="http://schemas.microsoft.com/office/powerpoint/2010/main" val="32973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CFE47-6947-7B59-57C7-648A5D04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EC168B-0562-1DDA-B86F-D7E83DCED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B27D50-3E8D-7E7B-E24C-7569ECB2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DF8B00-6BEB-2CCC-8C85-4782B0D31753}"/>
              </a:ext>
            </a:extLst>
          </p:cNvPr>
          <p:cNvSpPr txBox="1"/>
          <p:nvPr/>
        </p:nvSpPr>
        <p:spPr>
          <a:xfrm>
            <a:off x="3286125" y="294759"/>
            <a:ext cx="614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Демонстрация работы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7725C2-D39B-C2E0-D6BD-B252834D7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31950"/>
            <a:ext cx="9575985" cy="414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7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A53DC-02A9-92D0-AEBA-FD08FCE2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0EAA0-ED39-44FB-4BBF-4E6195733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C21B7A-9B72-F1C4-CA72-926ECCE1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4E7739-7CC6-68C5-DCE7-2B0244CBE8FF}"/>
              </a:ext>
            </a:extLst>
          </p:cNvPr>
          <p:cNvSpPr txBox="1"/>
          <p:nvPr/>
        </p:nvSpPr>
        <p:spPr>
          <a:xfrm>
            <a:off x="3467100" y="50468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</a:rPr>
              <a:t>Вывод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7B5D1-F4BA-41BB-8745-A206A5B911DE}"/>
              </a:ext>
            </a:extLst>
          </p:cNvPr>
          <p:cNvSpPr txBox="1"/>
          <p:nvPr/>
        </p:nvSpPr>
        <p:spPr>
          <a:xfrm>
            <a:off x="663574" y="1545362"/>
            <a:ext cx="10112376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</a:rPr>
              <a:t>Данный проект помогает</a:t>
            </a:r>
            <a:r>
              <a:rPr lang="en-US" sz="2400" b="1" dirty="0">
                <a:latin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</a:rPr>
              <a:t>Генерировать надёжные пароли,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</a:rPr>
              <a:t>Проверять их стойкость,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</a:rPr>
              <a:t>Хранить данные в зашифрованном виде.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</a:rPr>
              <a:t>Этот проект — не просто программа, а первый шаг к пониманию кибербезопасности и ответственного обращения с личными данными.</a:t>
            </a:r>
            <a:endParaRPr 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</a:rPr>
              <a:t>Безопасность начинается с одного надёжного пароля!</a:t>
            </a:r>
          </a:p>
        </p:txBody>
      </p:sp>
    </p:spTree>
    <p:extLst>
      <p:ext uri="{BB962C8B-B14F-4D97-AF65-F5344CB8AC3E}">
        <p14:creationId xmlns:p14="http://schemas.microsoft.com/office/powerpoint/2010/main" val="98081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F88AE-ABC1-C2FA-D38D-04B42A950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V="1">
            <a:off x="3445098" y="760398"/>
            <a:ext cx="2117501" cy="30526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4AD176-FA65-5805-6949-E70FC85D4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5199"/>
            <a:ext cx="9144000" cy="1655762"/>
          </a:xfrm>
        </p:spPr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E81D0E-0A23-E1F5-BB21-26B71B91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839"/>
          </a:xfrm>
          <a:prstGeom prst="rect">
            <a:avLst/>
          </a:prstGeom>
        </p:spPr>
      </p:pic>
      <p:sp>
        <p:nvSpPr>
          <p:cNvPr id="7" name="AutoShape 4" descr="Picture background">
            <a:extLst>
              <a:ext uri="{FF2B5EF4-FFF2-40B4-BE49-F238E27FC236}">
                <a16:creationId xmlns:a16="http://schemas.microsoft.com/office/drawing/2014/main" id="{C340AA68-A37A-371D-7899-340AC809A3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976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8B2064B-4EE2-4D4F-FD1A-EAED2EDA8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5" y="104762"/>
            <a:ext cx="19812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2E6930-6099-3131-3704-83E1C34F540F}"/>
              </a:ext>
            </a:extLst>
          </p:cNvPr>
          <p:cNvSpPr txBox="1"/>
          <p:nvPr/>
        </p:nvSpPr>
        <p:spPr>
          <a:xfrm>
            <a:off x="1822449" y="312867"/>
            <a:ext cx="10311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</a:rPr>
              <a:t>Бюджетное учреждение профессионального образования Ханты-Мансийского</a:t>
            </a:r>
            <a:endParaRPr lang="ru-RU" dirty="0">
              <a:effectLst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</a:rPr>
              <a:t>Образец автономного округа-Югры «Нижневартовский социально-гуманитарный колледж»</a:t>
            </a:r>
            <a:endParaRPr lang="ru-RU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849EC-0C54-F5EC-2D78-ED2F4B61C0EE}"/>
              </a:ext>
            </a:extLst>
          </p:cNvPr>
          <p:cNvSpPr txBox="1"/>
          <p:nvPr/>
        </p:nvSpPr>
        <p:spPr>
          <a:xfrm>
            <a:off x="3121025" y="2690334"/>
            <a:ext cx="614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</a:rPr>
              <a:t>Генератор безопасных паролей</a:t>
            </a:r>
            <a:endParaRPr lang="ru-RU" sz="280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A7176-434A-1442-BD39-C10B2380E4C9}"/>
              </a:ext>
            </a:extLst>
          </p:cNvPr>
          <p:cNvSpPr txBox="1"/>
          <p:nvPr/>
        </p:nvSpPr>
        <p:spPr>
          <a:xfrm>
            <a:off x="7188200" y="56876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</a:rPr>
              <a:t>Выполнил: Свайкин Александр Викторович</a:t>
            </a:r>
          </a:p>
          <a:p>
            <a:r>
              <a:rPr lang="ru-RU" b="1" dirty="0">
                <a:latin typeface="Times New Roman" panose="02020603050405020304" pitchFamily="18" charset="0"/>
              </a:rPr>
              <a:t>Обучающийся 323 СА/1 группы</a:t>
            </a:r>
          </a:p>
          <a:p>
            <a:r>
              <a:rPr lang="ru-RU" b="1" dirty="0">
                <a:latin typeface="Times New Roman" panose="02020603050405020304" pitchFamily="18" charset="0"/>
              </a:rPr>
              <a:t>Руководитель: Яковенко Евгений Романович</a:t>
            </a:r>
          </a:p>
          <a:p>
            <a:r>
              <a:rPr lang="ru-RU" dirty="0">
                <a:effectLst/>
              </a:rPr>
              <a:t>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35C59-66BA-1A6D-D370-D91A974CEDDD}"/>
              </a:ext>
            </a:extLst>
          </p:cNvPr>
          <p:cNvSpPr txBox="1"/>
          <p:nvPr/>
        </p:nvSpPr>
        <p:spPr>
          <a:xfrm>
            <a:off x="4273550" y="6045896"/>
            <a:ext cx="664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</a:rPr>
              <a:t>Нижневартовск, 2025</a:t>
            </a:r>
          </a:p>
        </p:txBody>
      </p:sp>
    </p:spTree>
    <p:extLst>
      <p:ext uri="{BB962C8B-B14F-4D97-AF65-F5344CB8AC3E}">
        <p14:creationId xmlns:p14="http://schemas.microsoft.com/office/powerpoint/2010/main" val="20084420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294</Words>
  <Application>Microsoft Office PowerPoint</Application>
  <PresentationFormat>Широкоэкранный</PresentationFormat>
  <Paragraphs>40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Александер Свайкин</dc:creator>
  <cp:lastModifiedBy>Александер Свайкин</cp:lastModifiedBy>
  <cp:revision>1</cp:revision>
  <dcterms:created xsi:type="dcterms:W3CDTF">2025-12-26T19:42:01Z</dcterms:created>
  <dcterms:modified xsi:type="dcterms:W3CDTF">2025-12-26T20:34:05Z</dcterms:modified>
</cp:coreProperties>
</file>